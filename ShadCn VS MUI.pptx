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9" r:id="rId11"/>
    <p:sldId id="265" r:id="rId12"/>
    <p:sldId id="272" r:id="rId13"/>
    <p:sldId id="270" r:id="rId14"/>
    <p:sldId id="268" r:id="rId15"/>
    <p:sldId id="271" r:id="rId16"/>
    <p:sldId id="273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05ED5-427B-4508-5D3F-7F9923F00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EA286E-211D-004D-A4DF-44BD57B1C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B594AB-12B7-A305-C61E-24B97F12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B281C1-D9F0-1AC1-D49F-8EB35726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A2DA2D-F72B-80F3-D43E-7E10F91D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67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705C3-5AC3-F40C-652C-8206B3E6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54A4D-8D4D-F191-B2B7-F2431FF3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5B633-1351-C199-6F45-3627B071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F02D5-C34F-61C7-8021-BC1D0372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F7708-8613-CF5A-E8F6-C168D8A0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FDB02-B5FB-5D70-048D-F4033763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9141EF-B768-E52E-1ACD-51A86D408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D1B902-8DBC-B17D-8C82-1246C178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3A718-ABCB-CB65-A762-D5A2B629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6E01D4-232F-1BEF-63D4-0253110C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46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766F2-BF3C-6162-E7EE-D0F32839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E495AF-F39C-0E9C-EA6D-8BF0DC559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2C33D7-2316-DB5D-9709-8025B101F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5E8E59-4DFC-CDE9-368B-29791EC6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8C13BC-8AB4-8AD4-0FE5-739132BA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B36FC8-22B7-4270-9AD4-5EA8BE2D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87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8B3D5-EA22-BE0B-9C48-61A39D6F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1075EC-4553-02C7-8BCC-B61C73086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3B2466-911D-E05C-8547-682953583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C8A202-1E4D-B0B5-A4C1-94DD015B2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671858-7BB8-E6B2-6FB3-FEB77FF9A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2466AA-D109-50A5-A50C-069997B4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582C8C-5D9D-3610-522F-08DE4B16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BC805E-BCA6-9351-9E37-F4847199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33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89E62-D40F-2230-648E-BCA22A36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B13D0EB-8727-D66A-24B2-66DC223A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7448D2-1BCF-A0E8-269F-84BEDD03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5F13B8-0548-CBE6-431C-19034FF8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26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3AD3F3F-F90F-0550-9379-3C2340CF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AA8DEF9-D1DF-3902-ADBC-18D4E0D3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BB9293-F5E0-7987-93ED-56048B31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77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BE771-4B84-8A9B-6D4D-3BA944FC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3BDAC-F1E6-3BE3-DE93-5E8D6C683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9CDA83-1147-9C3B-6560-B5E74CC92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E2C23B-2EEA-EF47-8D33-1CFAD3A5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10405-7E1E-B780-B8B9-2596CC5B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DCACBC-23E7-C468-7689-8027E225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50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D4685-CA25-E618-A736-3ED3938E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6872E5-16B5-0B78-0B30-F34954BAC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D288D2-FA88-0D16-AFE4-4F68458B7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562F5D-34FE-9C6B-D064-9725D134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8DC3C5-C085-AAFC-F0A0-78D39552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A06CB5-764B-2A99-346C-A3273B6A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4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D20D0-CDC9-0C6E-C730-EF99E919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99BFC7-AF6A-1FC9-83DE-2006C8928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6ED111-B560-E9DE-FAFD-0BBAD69D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23482E-93BA-3401-2396-C5489463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920C53-DBA5-B7CE-43E5-944F4D08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12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B029E4-7AAB-E5A7-8D0F-B141F3EC7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815C04-536E-C3B3-C0B3-F6DD5869A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E2AD8-31CF-6A1F-1D00-4F8C3D5E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C9B334-2C15-07DF-F81A-2BA1CD65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DB7C1-DE9E-66FB-D4A6-45FE80DC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C0953-F7B6-A802-EB2B-075AACA4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A2E4F-A09D-8C0F-A791-E34EACA7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156302-EE55-1CD5-9622-E5C892890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D112B-AECD-4401-9198-2F6DD36F4E6F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672B60-8563-D5C3-875A-CFEB6CC18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042596-3B29-3A6C-3EC1-CA0379DC5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2BD52-FB90-4737-BCBA-4093695F88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49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hadcn%2Fui&amp;sca_esv=09b1523b2d059e4c&amp;sxsrf=ANbL-n40Q59GX_QTCyDHcYPpTS3J4BeO2g%3A1769607364100&amp;ei=xBB6ac7xBcaf1fIP9PG8iAs&amp;ved=2ahUKEwjG9f_Vra6SAxUVGhAIHeYjHloQgK4QegQIARAC&amp;uact=5&amp;oq=%D1%82%D1%80%D0%B5%D0%BD%D0%B4%D1%8B+mui+vs+shadcn&amp;gs_lp=Egxnd3Mtd2l6LXNlcnAiGtGC0YDQtdC90LTRiyBtdWkgdnMgc2hhZGNuMgUQIRigATIFECEYoAEyBRAhGJ8FSNw8UI8EWIU7cAR4AZABAJgB9gGgAYQdqgEGMC4xLjE2uAEDyAEA-AEBmAIVoALLHcICChAAGLADGNYEGEfCAg0QABiABBiwAxhDGIoFwgIOEAAYsAMY5AIY1gTYAQHCAhMQLhiABBiwAxhDGMgDGIoF2AEBwgIZEC4YgAQYsAMY0QMYQxjHARjIAxiKBdgBAcICChAAGIAEGEMYigXCAgsQABiABBixAxiDAcICDhAAGIAEGLEDGIMBGIoFwgIFEAAYgATCAggQABgIGA0YHsICBRAAGO8FwgIHECEYoAEYCsICBhAAGBYYHsICCBAAGBYYChgewgIHEAAYgAQYAsICCRAhGKABGAoYKpgDAIgGAZAGEroGBggBEAEYCZIHBjQuMC4xN6AH5XGyBwQyLTE3uAe5HcIHBjIuMTguMcgHKoAIAA&amp;sclient=gws-wiz-serp&amp;mstk=AUtExfDWIe8q8QeAOSDQ-czH1-cLlK-49aYGTBUKLvgVqHTGZa3hC9To_HiCa8S7fTF9opd4HnCKIeSBChBgJRUypzDFbFaiXx4mGlCNlL_plE62U6AEtFbdhcDRcD59QrdnHKkZyZ2IlaPtGxOqFVwmfr-TwquzQA7wt3mBlEwxBWOYi1GbzWrRaq0sV2sXSqyxXP1i9845UyjQNrV0VePaYXEho_OldthY5lUdUo6g6_E72yE51xMUT2niDQWoo6KWNd9rs6JT3Mn3poH1jHZkZb88aDK9RtwBOwcMkSBamTEB3w&amp;csui=3" TargetMode="External"/><Relationship Id="rId2" Type="http://schemas.openxmlformats.org/officeDocument/2006/relationships/hyperlink" Target="https://www.google.com/search?q=MUI&amp;sca_esv=09b1523b2d059e4c&amp;sxsrf=ANbL-n40Q59GX_QTCyDHcYPpTS3J4BeO2g%3A1769607364100&amp;ei=xBB6ac7xBcaf1fIP9PG8iAs&amp;ved=2ahUKEwjG9f_Vra6SAxUVGhAIHeYjHloQgK4QegQIARAB&amp;uact=5&amp;oq=%D1%82%D1%80%D0%B5%D0%BD%D0%B4%D1%8B+mui+vs+shadcn&amp;gs_lp=Egxnd3Mtd2l6LXNlcnAiGtGC0YDQtdC90LTRiyBtdWkgdnMgc2hhZGNuMgUQIRigATIFECEYoAEyBRAhGJ8FSNw8UI8EWIU7cAR4AZABAJgB9gGgAYQdqgEGMC4xLjE2uAEDyAEA-AEBmAIVoALLHcICChAAGLADGNYEGEfCAg0QABiABBiwAxhDGIoFwgIOEAAYsAMY5AIY1gTYAQHCAhMQLhiABBiwAxhDGMgDGIoF2AEBwgIZEC4YgAQYsAMY0QMYQxjHARjIAxiKBdgBAcICChAAGIAEGEMYigXCAgsQABiABBixAxiDAcICDhAAGIAEGLEDGIMBGIoFwgIFEAAYgATCAggQABgIGA0YHsICBRAAGO8FwgIHECEYoAEYCsICBhAAGBYYHsICCBAAGBYYChgewgIHEAAYgAQYAsICCRAhGKABGAoYKpgDAIgGAZAGEroGBggBEAEYCZIHBjQuMC4xN6AH5XGyBwQyLTE3uAe5HcIHBjIuMTguMcgHKoAIAA&amp;sclient=gws-wiz-serp&amp;mstk=AUtExfDWIe8q8QeAOSDQ-czH1-cLlK-49aYGTBUKLvgVqHTGZa3hC9To_HiCa8S7fTF9opd4HnCKIeSBChBgJRUypzDFbFaiXx4mGlCNlL_plE62U6AEtFbdhcDRcD59QrdnHKkZyZ2IlaPtGxOqFVwmfr-TwquzQA7wt3mBlEwxBWOYi1GbzWrRaq0sV2sXSqyxXP1i9845UyjQNrV0VePaYXEho_OldthY5lUdUo6g6_E72yE51xMUT2niDQWoo6KWNd9rs6JT3Mn3poH1jHZkZb88aDK9RtwBOwcMkSBamTEB3w&amp;csui=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Material+Design&amp;sca_esv=09b1523b2d059e4c&amp;sxsrf=ANbL-n40Q59GX_QTCyDHcYPpTS3J4BeO2g%3A1769607364100&amp;ei=xBB6ac7xBcaf1fIP9PG8iAs&amp;ved=2ahUKEwjG9f_Vra6SAxUVGhAIHeYjHloQgK4QegQIARAD&amp;uact=5&amp;oq=%D1%82%D1%80%D0%B5%D0%BD%D0%B4%D1%8B+mui+vs+shadcn&amp;gs_lp=Egxnd3Mtd2l6LXNlcnAiGtGC0YDQtdC90LTRiyBtdWkgdnMgc2hhZGNuMgUQIRigATIFECEYoAEyBRAhGJ8FSNw8UI8EWIU7cAR4AZABAJgB9gGgAYQdqgEGMC4xLjE2uAEDyAEA-AEBmAIVoALLHcICChAAGLADGNYEGEfCAg0QABiABBiwAxhDGIoFwgIOEAAYsAMY5AIY1gTYAQHCAhMQLhiABBiwAxhDGMgDGIoF2AEBwgIZEC4YgAQYsAMY0QMYQxjHARjIAxiKBdgBAcICChAAGIAEGEMYigXCAgsQABiABBixAxiDAcICDhAAGIAEGLEDGIMBGIoFwgIFEAAYgATCAggQABgIGA0YHsICBRAAGO8FwgIHECEYoAEYCsICBhAAGBYYHsICCBAAGBYYChgewgIHEAAYgAQYAsICCRAhGKABGAoYKpgDAIgGAZAGEroGBggBEAEYCZIHBjQuMC4xN6AH5XGyBwQyLTE3uAe5HcIHBjIuMTguMcgHKoAIAA&amp;sclient=gws-wiz-serp&amp;mstk=AUtExfDWIe8q8QeAOSDQ-czH1-cLlK-49aYGTBUKLvgVqHTGZa3hC9To_HiCa8S7fTF9opd4HnCKIeSBChBgJRUypzDFbFaiXx4mGlCNlL_plE62U6AEtFbdhcDRcD59QrdnHKkZyZ2IlaPtGxOqFVwmfr-TwquzQA7wt3mBlEwxBWOYi1GbzWrRaq0sV2sXSqyxXP1i9845UyjQNrV0VePaYXEho_OldthY5lUdUo6g6_E72yE51xMUT2niDQWoo6KWNd9rs6JT3Mn3poH1jHZkZb88aDK9RtwBOwcMkSBamTEB3w&amp;csui=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rends.google.ru/trends/explore?q=mui,shadcn&amp;hl=r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@mui/material" TargetMode="External"/><Relationship Id="rId2" Type="http://schemas.openxmlformats.org/officeDocument/2006/relationships/hyperlink" Target="https://www.npmjs.com/package/shadcn?activeTab=vers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pmjs.com/package/tailwindcss" TargetMode="External"/><Relationship Id="rId4" Type="http://schemas.openxmlformats.org/officeDocument/2006/relationships/hyperlink" Target="https://www.npmjs.com/package/radix-ui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abr.com/ru/companies/timeweb/articles/781346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ui.com/material-ui/design-resources/material-ui-for-figma/" TargetMode="External"/><Relationship Id="rId2" Type="http://schemas.openxmlformats.org/officeDocument/2006/relationships/hyperlink" Target="https://ui.shadcn.com/docs/figm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ui.shadcn.com/docs/installation/nex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ui.com/material-ui/integrations/nextj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DE827-42A7-B637-F2B4-8B39AE274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ShadCn</a:t>
            </a:r>
            <a:r>
              <a:rPr lang="en-US" dirty="0"/>
              <a:t> VS MUI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820F9B-1E58-7DFD-A4FB-BCAA691BE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550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1E19F-1A33-15DD-A447-E3906A2C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03CD5-6516-990B-1D41-FABA436B4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effectLst/>
                <a:latin typeface="Google Sans"/>
                <a:hlinkClick r:id="rId2"/>
              </a:rPr>
              <a:t>MUI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и </a:t>
            </a:r>
            <a:r>
              <a:rPr lang="ru-RU" b="0" i="0" dirty="0" err="1">
                <a:effectLst/>
                <a:latin typeface="Google Sans"/>
                <a:hlinkClick r:id="rId3"/>
              </a:rPr>
              <a:t>shadcn</a:t>
            </a:r>
            <a:r>
              <a:rPr lang="ru-RU" b="0" i="0" dirty="0">
                <a:effectLst/>
                <a:latin typeface="Google Sans"/>
                <a:hlinkClick r:id="rId3"/>
              </a:rPr>
              <a:t>/</a:t>
            </a:r>
            <a:r>
              <a:rPr lang="ru-RU" b="0" i="0" dirty="0" err="1">
                <a:effectLst/>
                <a:latin typeface="Google Sans"/>
                <a:hlinkClick r:id="rId3"/>
              </a:rPr>
              <a:t>ui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представляют собой два разных подхода к UI: 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MUI — это классическая библиотека готовых компонентов на основе </a:t>
            </a:r>
            <a:r>
              <a:rPr lang="ru-RU" b="0" i="0" dirty="0" err="1">
                <a:effectLst/>
                <a:latin typeface="Google Sans"/>
                <a:hlinkClick r:id="rId4"/>
              </a:rPr>
              <a:t>Material</a:t>
            </a:r>
            <a:r>
              <a:rPr lang="ru-RU" b="0" i="0" dirty="0">
                <a:effectLst/>
                <a:latin typeface="Google Sans"/>
                <a:hlinkClick r:id="rId4"/>
              </a:rPr>
              <a:t> Design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(скорость, стабильность), 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shadcn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/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ui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— это современный подход с использованием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Tailwind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CSS, предлагающий гибкость, владение кодом и простоту кастомизации. 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В Next.js/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Tailwind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-комьюнити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shadcn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/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ui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стал де-факто стандартом для проектов, где нужна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кастомная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 дизайн-система и контроль над кодом. Но MUI по-прежнему доминирует по зрелости и внедрению в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enterprise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906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CE7D8-08D3-9F2F-70A0-733751DF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15263-4D75-C83A-2703-EC2FB5D59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https://trends.google.ru/trends/explore?q=mui,shadcn&amp;hl=ru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98C9F1-2F40-5335-68CB-E9B54EECB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07" y="2419698"/>
            <a:ext cx="6911186" cy="407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6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97795-30FC-36EB-1877-2699CD37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5D5D35-9208-2B1A-3AAC-1B1A5056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https://www.npmjs.com/package/shadcn?activeTab=versions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https://www.npmjs.com/package/@mui/material</a:t>
            </a:r>
            <a:r>
              <a:rPr lang="en-US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1D4393-CC05-4655-C2C6-C0C908D5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24" y="2824156"/>
            <a:ext cx="5435180" cy="379969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911630-F84E-34C3-4B87-692BB2C9B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24156"/>
            <a:ext cx="5697150" cy="3799697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54846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7EE32-2045-AC35-E96E-9685D8C8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NPM-2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BE593CC-011E-AC1D-5F43-2A89C638A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05" y="3105168"/>
            <a:ext cx="6016395" cy="3548772"/>
          </a:xfrm>
          <a:ln w="12700">
            <a:solidFill>
              <a:schemeClr val="accent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C7B7FF-BBEE-995C-6C7C-E238BF29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20" y="3105168"/>
            <a:ext cx="6020675" cy="354877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43964BE1-7FE1-1FE5-CFED-82ED5F99512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4"/>
              </a:rPr>
              <a:t>https://www.npmjs.com/package/radix-ui</a:t>
            </a:r>
            <a:endParaRPr lang="en-US" dirty="0"/>
          </a:p>
          <a:p>
            <a:r>
              <a:rPr lang="en-US" dirty="0">
                <a:hlinkClick r:id="rId5"/>
              </a:rPr>
              <a:t>https://www.npmjs.com/package/tailwindcss</a:t>
            </a:r>
            <a:r>
              <a:rPr lang="en-US" dirty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476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4567F-839F-5269-941E-291E4F39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1E308D2-CCB9-A77B-0924-96F443F61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1553640"/>
          </a:xfrm>
          <a:ln w="12700"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88EEDA-BC52-6134-AFE7-FA4080974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13673"/>
            <a:ext cx="10515600" cy="137851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9596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909C3-B0C4-CDF7-149B-7A1F9B71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ShadCN</a:t>
            </a:r>
            <a:r>
              <a:rPr lang="ru-RU" dirty="0"/>
              <a:t> </a:t>
            </a:r>
            <a:r>
              <a:rPr lang="en-US" dirty="0"/>
              <a:t>arch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A83851-220E-5B10-3B74-173ADB8CE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https://habr.com/ru/companies/timeweb/articles/781346/</a:t>
            </a:r>
            <a:endParaRPr lang="ru-RU" dirty="0"/>
          </a:p>
          <a:p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9F75134-DB27-8D51-0B5B-1D09093D1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06" y="2311929"/>
            <a:ext cx="9751716" cy="428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35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CB405-7321-3632-D061-07AD19D6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Figma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7859D-CF6D-F67D-7C33-EE5F10F5E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https://ui.shadcn.com/docs/figma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contains 3 free and 3 paid</a:t>
            </a:r>
          </a:p>
          <a:p>
            <a:r>
              <a:rPr lang="en-US" dirty="0">
                <a:hlinkClick r:id="rId3"/>
              </a:rPr>
              <a:t>https://mui.com/material-ui/design-resources/material-ui-for-figma/</a:t>
            </a:r>
            <a:endParaRPr lang="en-US" dirty="0"/>
          </a:p>
          <a:p>
            <a:pPr lvl="1"/>
            <a:r>
              <a:rPr lang="en-US" dirty="0"/>
              <a:t>contains 1 free and 1 paid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46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F613C-EDC4-4A4D-D89E-B4EEB366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ShadCN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34E41-CBF4-0C71-E588-47C790056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 err="1">
                <a:effectLst/>
                <a:latin typeface="plexMono"/>
              </a:rPr>
              <a:t>npm</a:t>
            </a:r>
            <a:r>
              <a:rPr lang="en-US" b="0" i="0" dirty="0">
                <a:effectLst/>
                <a:latin typeface="plexMono"/>
              </a:rPr>
              <a:t> install </a:t>
            </a:r>
            <a:r>
              <a:rPr lang="en-US" b="0" i="0" dirty="0" err="1">
                <a:effectLst/>
                <a:latin typeface="plexMono"/>
              </a:rPr>
              <a:t>tailwindcss</a:t>
            </a:r>
            <a:r>
              <a:rPr lang="en-US" b="0" i="0" dirty="0">
                <a:effectLst/>
                <a:latin typeface="plexMono"/>
              </a:rPr>
              <a:t> @tailwindcss/postcss </a:t>
            </a:r>
            <a:r>
              <a:rPr lang="en-US" b="0" i="0" dirty="0" err="1">
                <a:effectLst/>
                <a:latin typeface="plexMono"/>
              </a:rPr>
              <a:t>postcss</a:t>
            </a:r>
            <a:endParaRPr lang="en-US" b="0" i="0" dirty="0">
              <a:effectLst/>
              <a:latin typeface="plexMono"/>
            </a:endParaRPr>
          </a:p>
          <a:p>
            <a:pPr lvl="1"/>
            <a:r>
              <a:rPr lang="en-US" dirty="0"/>
              <a:t>https://tailwindcss.com/docs/installation/framework-guides/nextjs</a:t>
            </a:r>
          </a:p>
          <a:p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shadcn@latest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https://ui.shadcn.com/docs/installation/next</a:t>
            </a:r>
            <a:endParaRPr lang="en-US" dirty="0"/>
          </a:p>
          <a:p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tw</a:t>
            </a:r>
            <a:r>
              <a:rPr lang="en-US" dirty="0"/>
              <a:t>-animate-</a:t>
            </a:r>
            <a:r>
              <a:rPr lang="en-US" dirty="0" err="1"/>
              <a:t>css</a:t>
            </a:r>
            <a:endParaRPr lang="en-US" dirty="0"/>
          </a:p>
          <a:p>
            <a:pPr lvl="1"/>
            <a:r>
              <a:rPr lang="en-US" dirty="0"/>
              <a:t>to fix </a:t>
            </a:r>
            <a:r>
              <a:rPr lang="en-US" dirty="0" err="1"/>
              <a:t>CssSyntaxError</a:t>
            </a:r>
            <a:r>
              <a:rPr lang="en-US" dirty="0"/>
              <a:t>: </a:t>
            </a:r>
            <a:r>
              <a:rPr lang="en-US" dirty="0" err="1"/>
              <a:t>tailwindcss</a:t>
            </a:r>
            <a:r>
              <a:rPr lang="en-US" dirty="0"/>
              <a:t>: D:\work\code\customize </a:t>
            </a:r>
            <a:r>
              <a:rPr lang="en-US" dirty="0" err="1"/>
              <a:t>ui</a:t>
            </a:r>
            <a:r>
              <a:rPr lang="en-US" dirty="0"/>
              <a:t>\</a:t>
            </a:r>
            <a:r>
              <a:rPr lang="en-US" dirty="0" err="1"/>
              <a:t>nextjs-shadcn</a:t>
            </a:r>
            <a:r>
              <a:rPr lang="en-US" dirty="0"/>
              <a:t>\</a:t>
            </a:r>
            <a:r>
              <a:rPr lang="en-US" dirty="0" err="1"/>
              <a:t>src</a:t>
            </a:r>
            <a:r>
              <a:rPr lang="en-US" dirty="0"/>
              <a:t>\app\globals.css:1:1: Can't resolve '</a:t>
            </a:r>
            <a:r>
              <a:rPr lang="en-US" dirty="0" err="1"/>
              <a:t>tw</a:t>
            </a:r>
            <a:r>
              <a:rPr lang="en-US" dirty="0"/>
              <a:t>-animate-</a:t>
            </a:r>
            <a:r>
              <a:rPr lang="en-US" dirty="0" err="1"/>
              <a:t>css</a:t>
            </a:r>
            <a:r>
              <a:rPr lang="en-US" dirty="0"/>
              <a:t>’</a:t>
            </a:r>
          </a:p>
          <a:p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shadcn@latest</a:t>
            </a:r>
            <a:r>
              <a:rPr lang="en-US" dirty="0"/>
              <a:t> add button</a:t>
            </a:r>
          </a:p>
          <a:p>
            <a:pPr lvl="1"/>
            <a:r>
              <a:rPr lang="en-US" dirty="0" err="1"/>
              <a:t>button.tsx</a:t>
            </a:r>
            <a:r>
              <a:rPr lang="en-US" dirty="0"/>
              <a:t> </a:t>
            </a:r>
            <a:r>
              <a:rPr lang="ru-RU" dirty="0"/>
              <a:t>создается в </a:t>
            </a:r>
            <a:r>
              <a:rPr lang="en-US" dirty="0"/>
              <a:t>components</a:t>
            </a:r>
          </a:p>
          <a:p>
            <a:pPr lvl="1"/>
            <a:r>
              <a:rPr lang="ru-RU" b="1" dirty="0" err="1">
                <a:solidFill>
                  <a:srgbClr val="FF0000"/>
                </a:solidFill>
              </a:rPr>
              <a:t>Апгрейдабилити</a:t>
            </a:r>
            <a:r>
              <a:rPr lang="ru-RU" dirty="0"/>
              <a:t>???</a:t>
            </a:r>
          </a:p>
          <a:p>
            <a:pPr lvl="2"/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shadcn@latest</a:t>
            </a:r>
            <a:r>
              <a:rPr lang="en-US" dirty="0"/>
              <a:t> –version</a:t>
            </a:r>
            <a:r>
              <a:rPr lang="ru-RU" dirty="0"/>
              <a:t> + </a:t>
            </a:r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shadcn@latest</a:t>
            </a:r>
            <a:r>
              <a:rPr lang="en-US" dirty="0"/>
              <a:t> add &lt;component-name&gt;</a:t>
            </a:r>
            <a:r>
              <a:rPr lang="ru-RU" dirty="0"/>
              <a:t> + примерить </a:t>
            </a:r>
            <a:r>
              <a:rPr lang="ru-RU" dirty="0" err="1"/>
              <a:t>дифф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117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513DC-213C-635F-BB4F-BCEA49A88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MUI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1D021E-911B-F8B9-064B-EC89E1837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20467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https://mui.com/material-ui/integrations/nextjs/</a:t>
            </a:r>
            <a:endParaRPr lang="en-US" dirty="0"/>
          </a:p>
          <a:p>
            <a:pPr lvl="1"/>
            <a:r>
              <a:rPr lang="ru-RU" dirty="0"/>
              <a:t>Также довольно много шагов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E4DBDC-A3AA-E9A4-C34C-724BE1DD3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460" y="0"/>
            <a:ext cx="4015540" cy="68580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54384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B1C8B-7156-C749-1DF7-75759B0D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5CCCED0-B5B8-CECD-4136-E75A40AC4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3314" y="2091265"/>
            <a:ext cx="2305372" cy="3820058"/>
          </a:xfrm>
        </p:spPr>
      </p:pic>
    </p:spTree>
    <p:extLst>
      <p:ext uri="{BB962C8B-B14F-4D97-AF65-F5344CB8AC3E}">
        <p14:creationId xmlns:p14="http://schemas.microsoft.com/office/powerpoint/2010/main" val="2091412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D2921-0C16-7C04-A14A-E4B1846F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MUI customize        VS       </a:t>
            </a:r>
            <a:r>
              <a:rPr lang="en-US" dirty="0" err="1"/>
              <a:t>ShadCN</a:t>
            </a:r>
            <a:r>
              <a:rPr lang="en-US" dirty="0"/>
              <a:t> customize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9718A3-1812-16DB-DAD7-53F3F003E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242" y="1690688"/>
            <a:ext cx="3953558" cy="493281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BD4154-125F-0D91-5CC2-5CDD3F74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316" y="1690688"/>
            <a:ext cx="4217775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31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3DEBA-A6AC-17FC-76F3-01756667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MUI vs </a:t>
            </a:r>
            <a:r>
              <a:rPr lang="en-US" dirty="0" err="1"/>
              <a:t>ShadCN</a:t>
            </a:r>
            <a:r>
              <a:rPr lang="en-US" dirty="0"/>
              <a:t> product-card-component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D88208E-6021-E067-2A54-5306AD8A4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321" y="1270000"/>
            <a:ext cx="12017679" cy="5491921"/>
          </a:xfrm>
        </p:spPr>
      </p:pic>
    </p:spTree>
    <p:extLst>
      <p:ext uri="{BB962C8B-B14F-4D97-AF65-F5344CB8AC3E}">
        <p14:creationId xmlns:p14="http://schemas.microsoft.com/office/powerpoint/2010/main" val="1651622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8896F-DC17-4F5A-75A0-D9E85986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AdminUI</a:t>
            </a:r>
            <a:r>
              <a:rPr lang="en-US" dirty="0"/>
              <a:t> via </a:t>
            </a:r>
            <a:r>
              <a:rPr lang="en-US" dirty="0" err="1"/>
              <a:t>zustand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E59AC1-00BA-56D1-3ADA-4AD271C87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C8CB66-E97B-E30F-7D50-216C5CA5D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252"/>
            <a:ext cx="12192000" cy="55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50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3DEBA-A6AC-17FC-76F3-01756667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MUI vs </a:t>
            </a:r>
            <a:r>
              <a:rPr lang="en-US" dirty="0" err="1"/>
              <a:t>ShadCN</a:t>
            </a:r>
            <a:r>
              <a:rPr lang="en-US" dirty="0"/>
              <a:t> customization mappings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B3F6A49-5B27-B014-CC9B-C4985B930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81648"/>
            <a:ext cx="12191999" cy="5476352"/>
          </a:xfrm>
        </p:spPr>
      </p:pic>
    </p:spTree>
    <p:extLst>
      <p:ext uri="{BB962C8B-B14F-4D97-AF65-F5344CB8AC3E}">
        <p14:creationId xmlns:p14="http://schemas.microsoft.com/office/powerpoint/2010/main" val="36832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1E9D8-7A09-06AA-76E1-8FB1DD64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</a:t>
            </a:r>
            <a:r>
              <a:rPr lang="en-US" dirty="0"/>
              <a:t>MUI vs </a:t>
            </a:r>
            <a:r>
              <a:rPr lang="en-US" dirty="0" err="1"/>
              <a:t>ShadCN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F2E09-8388-2B76-632A-CD19EEF6E6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Есть </a:t>
            </a:r>
            <a:r>
              <a:rPr lang="ru-RU" dirty="0" err="1"/>
              <a:t>фигма</a:t>
            </a:r>
            <a:endParaRPr lang="ru-RU" dirty="0"/>
          </a:p>
          <a:p>
            <a:r>
              <a:rPr lang="ru-RU" dirty="0">
                <a:solidFill>
                  <a:srgbClr val="92D050"/>
                </a:solidFill>
              </a:rPr>
              <a:t>МУИ чуть быстрее стоить </a:t>
            </a:r>
            <a:r>
              <a:rPr lang="en-US" dirty="0">
                <a:solidFill>
                  <a:srgbClr val="92D050"/>
                </a:solidFill>
              </a:rPr>
              <a:t>UI</a:t>
            </a:r>
          </a:p>
          <a:p>
            <a:r>
              <a:rPr lang="ru-RU" dirty="0">
                <a:solidFill>
                  <a:srgbClr val="92D050"/>
                </a:solidFill>
              </a:rPr>
              <a:t>Чуть меньше кода</a:t>
            </a:r>
          </a:p>
          <a:p>
            <a:r>
              <a:rPr lang="ru-RU" dirty="0">
                <a:solidFill>
                  <a:srgbClr val="92D050"/>
                </a:solidFill>
              </a:rPr>
              <a:t>Больше использований</a:t>
            </a:r>
            <a:r>
              <a:rPr lang="en-US" dirty="0">
                <a:solidFill>
                  <a:srgbClr val="92D050"/>
                </a:solidFill>
              </a:rPr>
              <a:t>?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Меньше вариативности, легче для понимания</a:t>
            </a:r>
          </a:p>
          <a:p>
            <a:r>
              <a:rPr lang="ru-RU" dirty="0">
                <a:solidFill>
                  <a:srgbClr val="92D050"/>
                </a:solidFill>
              </a:rPr>
              <a:t>Абстрагирование от </a:t>
            </a:r>
            <a:r>
              <a:rPr lang="en-US" dirty="0" err="1">
                <a:solidFill>
                  <a:srgbClr val="92D050"/>
                </a:solidFill>
              </a:rPr>
              <a:t>css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Необходимость использовать темы</a:t>
            </a:r>
          </a:p>
          <a:p>
            <a:r>
              <a:rPr lang="ru-RU" dirty="0" err="1">
                <a:solidFill>
                  <a:srgbClr val="FF0000"/>
                </a:solidFill>
              </a:rPr>
              <a:t>Перемапинг</a:t>
            </a:r>
            <a:r>
              <a:rPr lang="ru-RU" dirty="0">
                <a:solidFill>
                  <a:srgbClr val="FF0000"/>
                </a:solidFill>
              </a:rPr>
              <a:t> довольно сложный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CFB112-0A53-FB61-1814-EF84858457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Есть </a:t>
            </a:r>
            <a:r>
              <a:rPr lang="ru-RU" dirty="0" err="1"/>
              <a:t>фигма</a:t>
            </a:r>
            <a:r>
              <a:rPr lang="ru-RU" dirty="0"/>
              <a:t> несколько</a:t>
            </a:r>
          </a:p>
          <a:p>
            <a:r>
              <a:rPr lang="ru-RU" dirty="0">
                <a:solidFill>
                  <a:srgbClr val="92D050"/>
                </a:solidFill>
              </a:rPr>
              <a:t>Кастомизация ближе к смыслу</a:t>
            </a:r>
          </a:p>
          <a:p>
            <a:r>
              <a:rPr lang="ru-RU" dirty="0" err="1">
                <a:solidFill>
                  <a:srgbClr val="92D050"/>
                </a:solidFill>
              </a:rPr>
              <a:t>Хайпиться</a:t>
            </a:r>
            <a:r>
              <a:rPr lang="ru-RU" dirty="0">
                <a:solidFill>
                  <a:srgbClr val="92D050"/>
                </a:solidFill>
              </a:rPr>
              <a:t> </a:t>
            </a:r>
            <a:r>
              <a:rPr lang="ru-RU" dirty="0" err="1">
                <a:solidFill>
                  <a:srgbClr val="92D050"/>
                </a:solidFill>
              </a:rPr>
              <a:t>некстом</a:t>
            </a:r>
            <a:r>
              <a:rPr lang="ru-RU" dirty="0">
                <a:solidFill>
                  <a:srgbClr val="92D050"/>
                </a:solidFill>
              </a:rPr>
              <a:t> и вроде как стал стандартом</a:t>
            </a:r>
          </a:p>
          <a:p>
            <a:r>
              <a:rPr lang="ru-RU" dirty="0">
                <a:solidFill>
                  <a:srgbClr val="92D050"/>
                </a:solidFill>
              </a:rPr>
              <a:t>Легче </a:t>
            </a:r>
            <a:r>
              <a:rPr lang="ru-RU" dirty="0" err="1">
                <a:solidFill>
                  <a:srgbClr val="92D050"/>
                </a:solidFill>
              </a:rPr>
              <a:t>катомизировать</a:t>
            </a:r>
            <a:r>
              <a:rPr lang="ru-RU" dirty="0">
                <a:solidFill>
                  <a:srgbClr val="92D050"/>
                </a:solidFill>
              </a:rPr>
              <a:t>!!!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Необходимо знание </a:t>
            </a:r>
            <a:r>
              <a:rPr lang="en-US" dirty="0">
                <a:solidFill>
                  <a:srgbClr val="FF0000"/>
                </a:solidFill>
              </a:rPr>
              <a:t>Tailwind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 err="1">
                <a:solidFill>
                  <a:srgbClr val="FF0000"/>
                </a:solidFill>
              </a:rPr>
              <a:t>Апгрейдабили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Необходимость оборачивать компоненты</a:t>
            </a:r>
          </a:p>
        </p:txBody>
      </p:sp>
    </p:spTree>
    <p:extLst>
      <p:ext uri="{BB962C8B-B14F-4D97-AF65-F5344CB8AC3E}">
        <p14:creationId xmlns:p14="http://schemas.microsoft.com/office/powerpoint/2010/main" val="3929299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32449-6A15-7A17-4996-654B7CB1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B050"/>
                </a:solidFill>
              </a:rPr>
              <a:t>Решение </a:t>
            </a:r>
            <a:r>
              <a:rPr lang="ru-RU" dirty="0" err="1">
                <a:solidFill>
                  <a:srgbClr val="00B050"/>
                </a:solidFill>
              </a:rPr>
              <a:t>Апгрейдабигити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/>
              <a:t>- </a:t>
            </a:r>
            <a:r>
              <a:rPr lang="en-US" dirty="0"/>
              <a:t>Wrapper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98E9387-EA7E-F572-154B-76BE75B3A1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29653" y="1373360"/>
            <a:ext cx="8332694" cy="5367007"/>
          </a:xfrm>
        </p:spPr>
      </p:pic>
    </p:spTree>
    <p:extLst>
      <p:ext uri="{BB962C8B-B14F-4D97-AF65-F5344CB8AC3E}">
        <p14:creationId xmlns:p14="http://schemas.microsoft.com/office/powerpoint/2010/main" val="22115549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420</Words>
  <Application>Microsoft Office PowerPoint</Application>
  <PresentationFormat>Широкоэкранный</PresentationFormat>
  <Paragraphs>59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Google Sans</vt:lpstr>
      <vt:lpstr>plexMono</vt:lpstr>
      <vt:lpstr>Тема Office</vt:lpstr>
      <vt:lpstr>ShadCn VS MUI</vt:lpstr>
      <vt:lpstr>Презентация PowerPoint</vt:lpstr>
      <vt:lpstr>Тренды</vt:lpstr>
      <vt:lpstr>NPM</vt:lpstr>
      <vt:lpstr>NPM-2</vt:lpstr>
      <vt:lpstr>Github</vt:lpstr>
      <vt:lpstr>ShadCN arch</vt:lpstr>
      <vt:lpstr>Figma</vt:lpstr>
      <vt:lpstr>Install ShadCN</vt:lpstr>
      <vt:lpstr>Install MUI</vt:lpstr>
      <vt:lpstr>Макет</vt:lpstr>
      <vt:lpstr>MUI customize        VS       ShadCN customize</vt:lpstr>
      <vt:lpstr>MUI vs ShadCN product-card-component</vt:lpstr>
      <vt:lpstr>AdminUI via zustand</vt:lpstr>
      <vt:lpstr>MUI vs ShadCN customization mappings</vt:lpstr>
      <vt:lpstr>Выводы MUI vs ShadCN</vt:lpstr>
      <vt:lpstr>Решение Апгрейдабигити - Wrapper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ShadCn VS MUI</dc:title>
  <dc:creator>Анатолий Н</dc:creator>
  <cp:lastModifiedBy>Анатолий Н</cp:lastModifiedBy>
  <cp:revision>24</cp:revision>
  <dcterms:created xsi:type="dcterms:W3CDTF">2026-01-28T13:39:43Z</dcterms:created>
  <dcterms:modified xsi:type="dcterms:W3CDTF">2026-02-04T12:06:16Z</dcterms:modified>
</cp:coreProperties>
</file>