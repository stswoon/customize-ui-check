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0" r:id="rId7"/>
    <p:sldId id="262" r:id="rId8"/>
    <p:sldId id="264" r:id="rId9"/>
    <p:sldId id="263" r:id="rId10"/>
    <p:sldId id="269" r:id="rId11"/>
    <p:sldId id="265" r:id="rId12"/>
    <p:sldId id="272" r:id="rId13"/>
    <p:sldId id="270" r:id="rId14"/>
    <p:sldId id="268" r:id="rId15"/>
    <p:sldId id="271" r:id="rId16"/>
    <p:sldId id="273" r:id="rId17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69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91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7005ED5-427B-4508-5D3F-7F9923F0025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66EA286E-211D-004D-A4DF-44BD57B1CE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3B594AB-12B7-A305-C61E-24B97F12FD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9D112B-AECD-4401-9198-2F6DD36F4E6F}" type="datetimeFigureOut">
              <a:rPr lang="ru-RU" smtClean="0"/>
              <a:t>29.01.2026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1B281C1-D9F0-1AC1-D49F-8EB35726FA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AA2DA2D-F72B-80F3-D43E-7E10F91D41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92BD52-FB90-4737-BCBA-4093695F88A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556733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36705C3-5AC3-F40C-652C-8206B3E616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2254A4D-8D4D-F191-B2B7-F2431FF3E8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915B633-1351-C199-6F45-3627B071B1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9D112B-AECD-4401-9198-2F6DD36F4E6F}" type="datetimeFigureOut">
              <a:rPr lang="ru-RU" smtClean="0"/>
              <a:t>29.01.2026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06F02D5-C34F-61C7-8021-BC1D03729D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3EF7708-8613-CF5A-E8F6-C168D8A000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92BD52-FB90-4737-BCBA-4093695F88A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666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A5FDB02-B5FB-5D70-048D-F40337638D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59141EF-B768-E52E-1ACD-51A86D408D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DD1B902-8DBC-B17D-8C82-1246C17896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9D112B-AECD-4401-9198-2F6DD36F4E6F}" type="datetimeFigureOut">
              <a:rPr lang="ru-RU" smtClean="0"/>
              <a:t>29.01.2026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BB3A718-ABCB-CB65-A762-D5A2B62976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86E01D4-232F-1BEF-63D4-0253110CB0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92BD52-FB90-4737-BCBA-4093695F88A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074660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FB766F2-BF3C-6162-E7EE-D0F3283944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1E495AF-F39C-0E9C-EA6D-8BF0DC559FE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1B2C33D7-2316-DB5D-9709-8025B101F1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745E8E59-4DFC-CDE9-368B-29791EC61F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9D112B-AECD-4401-9198-2F6DD36F4E6F}" type="datetimeFigureOut">
              <a:rPr lang="ru-RU" smtClean="0"/>
              <a:t>29.01.2026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788C13BC-8AB4-8AD4-0FE5-739132BA2F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5B36FC8-22B7-4270-9AD4-5EA8BE2DB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92BD52-FB90-4737-BCBA-4093695F88A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848786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7D8B3D5-EA22-BE0B-9C48-61A39D6FF9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AC1075EC-4553-02C7-8BCC-B61C730860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393B2466-911D-E05C-8547-6829535832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44C8A202-1E4D-B0B5-A4C1-94DD015B297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4671858-7BB8-E6B2-6FB3-FEB77FF9A00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592466AA-D109-50A5-A50C-069997B407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9D112B-AECD-4401-9198-2F6DD36F4E6F}" type="datetimeFigureOut">
              <a:rPr lang="ru-RU" smtClean="0"/>
              <a:t>29.01.2026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96582C8C-5D9D-3610-522F-08DE4B16C0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B3BC805E-BCA6-9351-9E37-F48471998A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92BD52-FB90-4737-BCBA-4093695F88A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053356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689E62-D40F-2230-648E-BCA22A361D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9B13D0EB-8727-D66A-24B2-66DC223AAC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9D112B-AECD-4401-9198-2F6DD36F4E6F}" type="datetimeFigureOut">
              <a:rPr lang="ru-RU" smtClean="0"/>
              <a:t>29.01.2026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A77448D2-1BCF-A0E8-269F-84BEDD03DC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55F13B8-0548-CBE6-431C-19034FF8B3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92BD52-FB90-4737-BCBA-4093695F88A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342640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D3AD3F3F-F90F-0550-9379-3C2340CF63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9D112B-AECD-4401-9198-2F6DD36F4E6F}" type="datetimeFigureOut">
              <a:rPr lang="ru-RU" smtClean="0"/>
              <a:t>29.01.2026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9AA8DEF9-D1DF-3902-ADBC-18D4E0D370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4BB9293-F5E0-7987-93ED-56048B3160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92BD52-FB90-4737-BCBA-4093695F88A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027729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6DBE771-4B84-8A9B-6D4D-3BA944FCA4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B53BDAC-F1E6-3BE3-DE93-5E8D6C683D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459CDA83-1147-9C3B-6560-B5E74CC92E4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18E2C23B-2EEA-EF47-8D33-1CFAD3A5E1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9D112B-AECD-4401-9198-2F6DD36F4E6F}" type="datetimeFigureOut">
              <a:rPr lang="ru-RU" smtClean="0"/>
              <a:t>29.01.2026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9BF10405-7E1E-B780-B8B9-2596CC5BA1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AFDCACBC-23E7-C468-7689-8027E225F5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92BD52-FB90-4737-BCBA-4093695F88A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555099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B2D4685-CA25-E618-A736-3ED3938EC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C06872E5-16B5-0B78-0B30-F34954BAC1C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5AD288D2-FA88-0D16-AFE4-4F68458B71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E562F5D-34FE-9C6B-D064-9725D13457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9D112B-AECD-4401-9198-2F6DD36F4E6F}" type="datetimeFigureOut">
              <a:rPr lang="ru-RU" smtClean="0"/>
              <a:t>29.01.2026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848DC3C5-C085-AAFC-F0A0-78D3955231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CA06CB5-764B-2A99-346C-A3273B6AAC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92BD52-FB90-4737-BCBA-4093695F88A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22414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48D20D0-CDC9-0C6E-C730-EF99E9194B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4B99BFC7-AF6A-1FC9-83DE-2006C8928A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76ED111-B560-E9DE-FAFD-0BBAD69D9E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9D112B-AECD-4401-9198-2F6DD36F4E6F}" type="datetimeFigureOut">
              <a:rPr lang="ru-RU" smtClean="0"/>
              <a:t>29.01.2026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923482E-93BA-3401-2396-C548946337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8920C53-DBA5-B7CE-43E5-944F4D082B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92BD52-FB90-4737-BCBA-4093695F88A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11242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70B029E4-7AAB-E5A7-8D0F-B141F3EC7CD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38815C04-536E-C3B3-C0B3-F6DD5869A5F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03E2AD8-31CF-6A1F-1D00-4F8C3D5EF7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9D112B-AECD-4401-9198-2F6DD36F4E6F}" type="datetimeFigureOut">
              <a:rPr lang="ru-RU" smtClean="0"/>
              <a:t>29.01.2026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2C9B334-2C15-07DF-F81A-2BA1CD653D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AEDB7C1-DE9E-66FB-D4A6-45FE80DCF7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92BD52-FB90-4737-BCBA-4093695F88A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713040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50C0953-F7B6-A802-EB2B-075AACA442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5AA2E4F-A09D-8C0F-A791-E34EACA760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9156302-EE55-1CD5-9622-E5C892890E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09D112B-AECD-4401-9198-2F6DD36F4E6F}" type="datetimeFigureOut">
              <a:rPr lang="ru-RU" smtClean="0"/>
              <a:t>29.01.2026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1672B60-8563-D5C3-875A-CFEB6CC18E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C042596-3B29-3A6C-3EC1-CA0379DC5B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392BD52-FB90-4737-BCBA-4093695F88A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354961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oogle.com/search?q=shadcn%2Fui&amp;sca_esv=09b1523b2d059e4c&amp;sxsrf=ANbL-n40Q59GX_QTCyDHcYPpTS3J4BeO2g%3A1769607364100&amp;ei=xBB6ac7xBcaf1fIP9PG8iAs&amp;ved=2ahUKEwjG9f_Vra6SAxUVGhAIHeYjHloQgK4QegQIARAC&amp;uact=5&amp;oq=%D1%82%D1%80%D0%B5%D0%BD%D0%B4%D1%8B+mui+vs+shadcn&amp;gs_lp=Egxnd3Mtd2l6LXNlcnAiGtGC0YDQtdC90LTRiyBtdWkgdnMgc2hhZGNuMgUQIRigATIFECEYoAEyBRAhGJ8FSNw8UI8EWIU7cAR4AZABAJgB9gGgAYQdqgEGMC4xLjE2uAEDyAEA-AEBmAIVoALLHcICChAAGLADGNYEGEfCAg0QABiABBiwAxhDGIoFwgIOEAAYsAMY5AIY1gTYAQHCAhMQLhiABBiwAxhDGMgDGIoF2AEBwgIZEC4YgAQYsAMY0QMYQxjHARjIAxiKBdgBAcICChAAGIAEGEMYigXCAgsQABiABBixAxiDAcICDhAAGIAEGLEDGIMBGIoFwgIFEAAYgATCAggQABgIGA0YHsICBRAAGO8FwgIHECEYoAEYCsICBhAAGBYYHsICCBAAGBYYChgewgIHEAAYgAQYAsICCRAhGKABGAoYKpgDAIgGAZAGEroGBggBEAEYCZIHBjQuMC4xN6AH5XGyBwQyLTE3uAe5HcIHBjIuMTguMcgHKoAIAA&amp;sclient=gws-wiz-serp&amp;mstk=AUtExfDWIe8q8QeAOSDQ-czH1-cLlK-49aYGTBUKLvgVqHTGZa3hC9To_HiCa8S7fTF9opd4HnCKIeSBChBgJRUypzDFbFaiXx4mGlCNlL_plE62U6AEtFbdhcDRcD59QrdnHKkZyZ2IlaPtGxOqFVwmfr-TwquzQA7wt3mBlEwxBWOYi1GbzWrRaq0sV2sXSqyxXP1i9845UyjQNrV0VePaYXEho_OldthY5lUdUo6g6_E72yE51xMUT2niDQWoo6KWNd9rs6JT3Mn3poH1jHZkZb88aDK9RtwBOwcMkSBamTEB3w&amp;csui=3" TargetMode="External"/><Relationship Id="rId2" Type="http://schemas.openxmlformats.org/officeDocument/2006/relationships/hyperlink" Target="https://www.google.com/search?q=MUI&amp;sca_esv=09b1523b2d059e4c&amp;sxsrf=ANbL-n40Q59GX_QTCyDHcYPpTS3J4BeO2g%3A1769607364100&amp;ei=xBB6ac7xBcaf1fIP9PG8iAs&amp;ved=2ahUKEwjG9f_Vra6SAxUVGhAIHeYjHloQgK4QegQIARAB&amp;uact=5&amp;oq=%D1%82%D1%80%D0%B5%D0%BD%D0%B4%D1%8B+mui+vs+shadcn&amp;gs_lp=Egxnd3Mtd2l6LXNlcnAiGtGC0YDQtdC90LTRiyBtdWkgdnMgc2hhZGNuMgUQIRigATIFECEYoAEyBRAhGJ8FSNw8UI8EWIU7cAR4AZABAJgB9gGgAYQdqgEGMC4xLjE2uAEDyAEA-AEBmAIVoALLHcICChAAGLADGNYEGEfCAg0QABiABBiwAxhDGIoFwgIOEAAYsAMY5AIY1gTYAQHCAhMQLhiABBiwAxhDGMgDGIoF2AEBwgIZEC4YgAQYsAMY0QMYQxjHARjIAxiKBdgBAcICChAAGIAEGEMYigXCAgsQABiABBixAxiDAcICDhAAGIAEGLEDGIMBGIoFwgIFEAAYgATCAggQABgIGA0YHsICBRAAGO8FwgIHECEYoAEYCsICBhAAGBYYHsICCBAAGBYYChgewgIHEAAYgAQYAsICCRAhGKABGAoYKpgDAIgGAZAGEroGBggBEAEYCZIHBjQuMC4xN6AH5XGyBwQyLTE3uAe5HcIHBjIuMTguMcgHKoAIAA&amp;sclient=gws-wiz-serp&amp;mstk=AUtExfDWIe8q8QeAOSDQ-czH1-cLlK-49aYGTBUKLvgVqHTGZa3hC9To_HiCa8S7fTF9opd4HnCKIeSBChBgJRUypzDFbFaiXx4mGlCNlL_plE62U6AEtFbdhcDRcD59QrdnHKkZyZ2IlaPtGxOqFVwmfr-TwquzQA7wt3mBlEwxBWOYi1GbzWrRaq0sV2sXSqyxXP1i9845UyjQNrV0VePaYXEho_OldthY5lUdUo6g6_E72yE51xMUT2niDQWoo6KWNd9rs6JT3Mn3poH1jHZkZb88aDK9RtwBOwcMkSBamTEB3w&amp;csui=3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google.com/search?q=Material+Design&amp;sca_esv=09b1523b2d059e4c&amp;sxsrf=ANbL-n40Q59GX_QTCyDHcYPpTS3J4BeO2g%3A1769607364100&amp;ei=xBB6ac7xBcaf1fIP9PG8iAs&amp;ved=2ahUKEwjG9f_Vra6SAxUVGhAIHeYjHloQgK4QegQIARAD&amp;uact=5&amp;oq=%D1%82%D1%80%D0%B5%D0%BD%D0%B4%D1%8B+mui+vs+shadcn&amp;gs_lp=Egxnd3Mtd2l6LXNlcnAiGtGC0YDQtdC90LTRiyBtdWkgdnMgc2hhZGNuMgUQIRigATIFECEYoAEyBRAhGJ8FSNw8UI8EWIU7cAR4AZABAJgB9gGgAYQdqgEGMC4xLjE2uAEDyAEA-AEBmAIVoALLHcICChAAGLADGNYEGEfCAg0QABiABBiwAxhDGIoFwgIOEAAYsAMY5AIY1gTYAQHCAhMQLhiABBiwAxhDGMgDGIoF2AEBwgIZEC4YgAQYsAMY0QMYQxjHARjIAxiKBdgBAcICChAAGIAEGEMYigXCAgsQABiABBixAxiDAcICDhAAGIAEGLEDGIMBGIoFwgIFEAAYgATCAggQABgIGA0YHsICBRAAGO8FwgIHECEYoAEYCsICBhAAGBYYHsICCBAAGBYYChgewgIHEAAYgAQYAsICCRAhGKABGAoYKpgDAIgGAZAGEroGBggBEAEYCZIHBjQuMC4xN6AH5XGyBwQyLTE3uAe5HcIHBjIuMTguMcgHKoAIAA&amp;sclient=gws-wiz-serp&amp;mstk=AUtExfDWIe8q8QeAOSDQ-czH1-cLlK-49aYGTBUKLvgVqHTGZa3hC9To_HiCa8S7fTF9opd4HnCKIeSBChBgJRUypzDFbFaiXx4mGlCNlL_plE62U6AEtFbdhcDRcD59QrdnHKkZyZ2IlaPtGxOqFVwmfr-TwquzQA7wt3mBlEwxBWOYi1GbzWrRaq0sV2sXSqyxXP1i9845UyjQNrV0VePaYXEho_OldthY5lUdUo6g6_E72yE51xMUT2niDQWoo6KWNd9rs6JT3Mn3poH1jHZkZb88aDK9RtwBOwcMkSBamTEB3w&amp;csui=3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trends.google.ru/trends/explore?q=mui,shadcn&amp;hl=ru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pmjs.com/package/@mui/material" TargetMode="External"/><Relationship Id="rId2" Type="http://schemas.openxmlformats.org/officeDocument/2006/relationships/hyperlink" Target="https://www.npmjs.com/package/shadcn?activeTab=versions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npmjs.com/package/tailwindcss" TargetMode="External"/><Relationship Id="rId4" Type="http://schemas.openxmlformats.org/officeDocument/2006/relationships/hyperlink" Target="https://www.npmjs.com/package/radix-ui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habr.com/ru/companies/timeweb/articles/781346/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mui.com/material-ui/design-resources/material-ui-for-figma/" TargetMode="External"/><Relationship Id="rId2" Type="http://schemas.openxmlformats.org/officeDocument/2006/relationships/hyperlink" Target="https://ui.shadcn.com/docs/figma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ui.shadcn.com/docs/installation/next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mui.com/material-ui/integrations/nextjs/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18DE827-42A7-B637-F2B4-8B39AE27438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ShadCn</a:t>
            </a:r>
            <a:r>
              <a:rPr lang="en-US" dirty="0"/>
              <a:t> VS MUI</a:t>
            </a:r>
            <a:endParaRPr lang="ru-RU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BF820F9B-1E58-7DFD-A4FB-BCAA691BE60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065508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731E19F-1A33-15DD-A447-E3906A2CF9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1803CD5-6516-990B-1D41-FABA436B46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b="0" i="0" dirty="0">
                <a:effectLst/>
                <a:latin typeface="Google Sans"/>
                <a:hlinkClick r:id="rId2"/>
              </a:rPr>
              <a:t>MUI</a:t>
            </a:r>
            <a:r>
              <a:rPr lang="ru-RU" b="0" i="0" dirty="0">
                <a:solidFill>
                  <a:srgbClr val="0A0A0A"/>
                </a:solidFill>
                <a:effectLst/>
                <a:latin typeface="Google Sans"/>
              </a:rPr>
              <a:t> и </a:t>
            </a:r>
            <a:r>
              <a:rPr lang="ru-RU" b="0" i="0" dirty="0" err="1">
                <a:effectLst/>
                <a:latin typeface="Google Sans"/>
                <a:hlinkClick r:id="rId3"/>
              </a:rPr>
              <a:t>shadcn</a:t>
            </a:r>
            <a:r>
              <a:rPr lang="ru-RU" b="0" i="0" dirty="0">
                <a:effectLst/>
                <a:latin typeface="Google Sans"/>
                <a:hlinkClick r:id="rId3"/>
              </a:rPr>
              <a:t>/</a:t>
            </a:r>
            <a:r>
              <a:rPr lang="ru-RU" b="0" i="0" dirty="0" err="1">
                <a:effectLst/>
                <a:latin typeface="Google Sans"/>
                <a:hlinkClick r:id="rId3"/>
              </a:rPr>
              <a:t>ui</a:t>
            </a:r>
            <a:r>
              <a:rPr lang="ru-RU" b="0" i="0" dirty="0">
                <a:solidFill>
                  <a:srgbClr val="0A0A0A"/>
                </a:solidFill>
                <a:effectLst/>
                <a:latin typeface="Google Sans"/>
              </a:rPr>
              <a:t> представляют собой два разных подхода к UI: </a:t>
            </a:r>
            <a:endParaRPr lang="en-US" b="0" i="0" dirty="0">
              <a:solidFill>
                <a:srgbClr val="0A0A0A"/>
              </a:solidFill>
              <a:effectLst/>
              <a:latin typeface="Google Sans"/>
            </a:endParaRPr>
          </a:p>
          <a:p>
            <a:r>
              <a:rPr lang="ru-RU" b="0" i="0" dirty="0">
                <a:solidFill>
                  <a:srgbClr val="0A0A0A"/>
                </a:solidFill>
                <a:effectLst/>
                <a:latin typeface="Google Sans"/>
              </a:rPr>
              <a:t>MUI — это классическая библиотека готовых компонентов на основе </a:t>
            </a:r>
            <a:r>
              <a:rPr lang="ru-RU" b="0" i="0" dirty="0" err="1">
                <a:effectLst/>
                <a:latin typeface="Google Sans"/>
                <a:hlinkClick r:id="rId4"/>
              </a:rPr>
              <a:t>Material</a:t>
            </a:r>
            <a:r>
              <a:rPr lang="ru-RU" b="0" i="0" dirty="0">
                <a:effectLst/>
                <a:latin typeface="Google Sans"/>
                <a:hlinkClick r:id="rId4"/>
              </a:rPr>
              <a:t> Design</a:t>
            </a:r>
            <a:r>
              <a:rPr lang="ru-RU" b="0" i="0" dirty="0">
                <a:solidFill>
                  <a:srgbClr val="0A0A0A"/>
                </a:solidFill>
                <a:effectLst/>
                <a:latin typeface="Google Sans"/>
              </a:rPr>
              <a:t> (скорость, стабильность), </a:t>
            </a:r>
            <a:endParaRPr lang="en-US" b="0" i="0" dirty="0">
              <a:solidFill>
                <a:srgbClr val="0A0A0A"/>
              </a:solidFill>
              <a:effectLst/>
              <a:latin typeface="Google Sans"/>
            </a:endParaRPr>
          </a:p>
          <a:p>
            <a:r>
              <a:rPr lang="ru-RU" b="0" i="0" dirty="0" err="1">
                <a:solidFill>
                  <a:srgbClr val="0A0A0A"/>
                </a:solidFill>
                <a:effectLst/>
                <a:latin typeface="Google Sans"/>
              </a:rPr>
              <a:t>shadcn</a:t>
            </a:r>
            <a:r>
              <a:rPr lang="ru-RU" b="0" i="0" dirty="0">
                <a:solidFill>
                  <a:srgbClr val="0A0A0A"/>
                </a:solidFill>
                <a:effectLst/>
                <a:latin typeface="Google Sans"/>
              </a:rPr>
              <a:t>/</a:t>
            </a:r>
            <a:r>
              <a:rPr lang="ru-RU" b="0" i="0" dirty="0" err="1">
                <a:solidFill>
                  <a:srgbClr val="0A0A0A"/>
                </a:solidFill>
                <a:effectLst/>
                <a:latin typeface="Google Sans"/>
              </a:rPr>
              <a:t>ui</a:t>
            </a:r>
            <a:r>
              <a:rPr lang="ru-RU" b="0" i="0" dirty="0">
                <a:solidFill>
                  <a:srgbClr val="0A0A0A"/>
                </a:solidFill>
                <a:effectLst/>
                <a:latin typeface="Google Sans"/>
              </a:rPr>
              <a:t> — это современный подход с использованием </a:t>
            </a:r>
            <a:r>
              <a:rPr lang="ru-RU" b="0" i="0" dirty="0" err="1">
                <a:solidFill>
                  <a:srgbClr val="0A0A0A"/>
                </a:solidFill>
                <a:effectLst/>
                <a:latin typeface="Google Sans"/>
              </a:rPr>
              <a:t>Tailwind</a:t>
            </a:r>
            <a:r>
              <a:rPr lang="ru-RU" b="0" i="0" dirty="0">
                <a:solidFill>
                  <a:srgbClr val="0A0A0A"/>
                </a:solidFill>
                <a:effectLst/>
                <a:latin typeface="Google Sans"/>
              </a:rPr>
              <a:t> CSS, предлагающий гибкость, владение кодом и простоту кастомизации. </a:t>
            </a:r>
            <a:endParaRPr lang="en-US" b="0" i="0" dirty="0">
              <a:solidFill>
                <a:srgbClr val="0A0A0A"/>
              </a:solidFill>
              <a:effectLst/>
              <a:latin typeface="Google Sans"/>
            </a:endParaRPr>
          </a:p>
          <a:p>
            <a:r>
              <a:rPr lang="ru-RU" b="0" i="0" dirty="0">
                <a:solidFill>
                  <a:srgbClr val="0A0A0A"/>
                </a:solidFill>
                <a:effectLst/>
                <a:latin typeface="Google Sans"/>
              </a:rPr>
              <a:t>В Next.js/</a:t>
            </a:r>
            <a:r>
              <a:rPr lang="ru-RU" b="0" i="0" dirty="0" err="1">
                <a:solidFill>
                  <a:srgbClr val="0A0A0A"/>
                </a:solidFill>
                <a:effectLst/>
                <a:latin typeface="Google Sans"/>
              </a:rPr>
              <a:t>Tailwind</a:t>
            </a:r>
            <a:r>
              <a:rPr lang="ru-RU" b="0" i="0" dirty="0">
                <a:solidFill>
                  <a:srgbClr val="0A0A0A"/>
                </a:solidFill>
                <a:effectLst/>
                <a:latin typeface="Google Sans"/>
              </a:rPr>
              <a:t>-комьюнити </a:t>
            </a:r>
            <a:r>
              <a:rPr lang="ru-RU" b="0" i="0" dirty="0" err="1">
                <a:solidFill>
                  <a:srgbClr val="0A0A0A"/>
                </a:solidFill>
                <a:effectLst/>
                <a:latin typeface="Google Sans"/>
              </a:rPr>
              <a:t>shadcn</a:t>
            </a:r>
            <a:r>
              <a:rPr lang="ru-RU" b="0" i="0" dirty="0">
                <a:solidFill>
                  <a:srgbClr val="0A0A0A"/>
                </a:solidFill>
                <a:effectLst/>
                <a:latin typeface="Google Sans"/>
              </a:rPr>
              <a:t>/</a:t>
            </a:r>
            <a:r>
              <a:rPr lang="ru-RU" b="0" i="0" dirty="0" err="1">
                <a:solidFill>
                  <a:srgbClr val="0A0A0A"/>
                </a:solidFill>
                <a:effectLst/>
                <a:latin typeface="Google Sans"/>
              </a:rPr>
              <a:t>ui</a:t>
            </a:r>
            <a:r>
              <a:rPr lang="ru-RU" b="0" i="0" dirty="0">
                <a:solidFill>
                  <a:srgbClr val="0A0A0A"/>
                </a:solidFill>
                <a:effectLst/>
                <a:latin typeface="Google Sans"/>
              </a:rPr>
              <a:t> стал де-факто стандартом для проектов, где нужна </a:t>
            </a:r>
            <a:r>
              <a:rPr lang="ru-RU" b="0" i="0" dirty="0" err="1">
                <a:solidFill>
                  <a:srgbClr val="0A0A0A"/>
                </a:solidFill>
                <a:effectLst/>
                <a:latin typeface="Google Sans"/>
              </a:rPr>
              <a:t>кастомная</a:t>
            </a:r>
            <a:r>
              <a:rPr lang="ru-RU" b="0" i="0" dirty="0">
                <a:solidFill>
                  <a:srgbClr val="0A0A0A"/>
                </a:solidFill>
                <a:effectLst/>
                <a:latin typeface="Google Sans"/>
              </a:rPr>
              <a:t> дизайн-система и контроль над кодом. Но MUI по-прежнему доминирует по зрелости и внедрению в </a:t>
            </a:r>
            <a:r>
              <a:rPr lang="ru-RU" b="0" i="0" dirty="0" err="1">
                <a:solidFill>
                  <a:srgbClr val="0A0A0A"/>
                </a:solidFill>
                <a:effectLst/>
                <a:latin typeface="Google Sans"/>
              </a:rPr>
              <a:t>enterprise</a:t>
            </a:r>
            <a:r>
              <a:rPr lang="ru-RU" b="0" i="0" dirty="0">
                <a:solidFill>
                  <a:srgbClr val="0A0A0A"/>
                </a:solidFill>
                <a:effectLst/>
                <a:latin typeface="Google Sans"/>
              </a:rPr>
              <a:t>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590671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DACE7D8-08D3-9F2F-70A0-733751DF00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Тренды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9015263-4D75-C83A-2703-EC2FB5D59D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https://trends.google.ru/trends/explore?q=mui,shadcn&amp;hl=ru</a:t>
            </a:r>
            <a:endParaRPr lang="ru-RU" dirty="0"/>
          </a:p>
          <a:p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DF98C9F1-2F40-5335-68CB-E9B54EECB3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0407" y="2419698"/>
            <a:ext cx="6911186" cy="40731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78699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7297795-30FC-36EB-1877-2699CD37F0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NPM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C5D5D35-9208-2B1A-3AAC-1B1A5056C0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https://www.npmjs.com/package/shadcn?activeTab=versions</a:t>
            </a:r>
            <a:r>
              <a:rPr lang="en-US" dirty="0"/>
              <a:t> </a:t>
            </a:r>
          </a:p>
          <a:p>
            <a:r>
              <a:rPr lang="en-US" dirty="0">
                <a:hlinkClick r:id="rId3"/>
              </a:rPr>
              <a:t>https://www.npmjs.com/package/@mui/material</a:t>
            </a:r>
            <a:r>
              <a:rPr lang="en-US" dirty="0"/>
              <a:t> 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A31D4393-CC05-4655-C2C6-C0C908D589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8824" y="2824156"/>
            <a:ext cx="5435180" cy="3799697"/>
          </a:xfrm>
          <a:prstGeom prst="rect">
            <a:avLst/>
          </a:prstGeom>
          <a:ln w="12700">
            <a:solidFill>
              <a:schemeClr val="accent1"/>
            </a:solidFill>
          </a:ln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4B911630-F84E-34C3-4B87-692BB2C9B6F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2824156"/>
            <a:ext cx="5697150" cy="3799697"/>
          </a:xfrm>
          <a:prstGeom prst="rect">
            <a:avLst/>
          </a:prstGeom>
          <a:ln w="1270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32548463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667EE32-2045-AC35-E96E-9685D8C8FA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NPM-2</a:t>
            </a:r>
            <a:endParaRPr lang="ru-RU" dirty="0"/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5BE593CC-011E-AC1D-5F43-2A89C638A50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9605" y="3105168"/>
            <a:ext cx="6016395" cy="3548772"/>
          </a:xfrm>
          <a:ln w="12700">
            <a:solidFill>
              <a:schemeClr val="accent1"/>
            </a:solidFill>
          </a:ln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6C7B7FF-BBEE-995C-6C7C-E238BF2987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1720" y="3105168"/>
            <a:ext cx="6020675" cy="3548772"/>
          </a:xfrm>
          <a:prstGeom prst="rect">
            <a:avLst/>
          </a:prstGeom>
          <a:ln w="12700">
            <a:solidFill>
              <a:schemeClr val="accent1"/>
            </a:solidFill>
          </a:ln>
        </p:spPr>
      </p:pic>
      <p:sp>
        <p:nvSpPr>
          <p:cNvPr id="8" name="Объект 2">
            <a:extLst>
              <a:ext uri="{FF2B5EF4-FFF2-40B4-BE49-F238E27FC236}">
                <a16:creationId xmlns:a16="http://schemas.microsoft.com/office/drawing/2014/main" id="{43964BE1-7FE1-1FE5-CFED-82ED5F995120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hlinkClick r:id="rId4"/>
              </a:rPr>
              <a:t>https://www.npmjs.com/package/radix-ui</a:t>
            </a:r>
            <a:endParaRPr lang="en-US" dirty="0"/>
          </a:p>
          <a:p>
            <a:r>
              <a:rPr lang="en-US" dirty="0">
                <a:hlinkClick r:id="rId5"/>
              </a:rPr>
              <a:t>https://www.npmjs.com/package/tailwindcss</a:t>
            </a:r>
            <a:r>
              <a:rPr lang="en-US" dirty="0"/>
              <a:t>  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5784760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9C4567F-839F-5269-941E-291E4F3965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Github</a:t>
            </a:r>
            <a:endParaRPr lang="ru-RU" dirty="0"/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11E308D2-CCB9-A77B-0924-96F443F6160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690688"/>
            <a:ext cx="10515600" cy="1553640"/>
          </a:xfrm>
          <a:ln w="12700">
            <a:solidFill>
              <a:schemeClr val="accent1"/>
            </a:solidFill>
          </a:ln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A888EEDA-BC52-6134-AFE7-FA40809749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3613673"/>
            <a:ext cx="10515600" cy="1378515"/>
          </a:xfrm>
          <a:prstGeom prst="rect">
            <a:avLst/>
          </a:prstGeom>
          <a:ln w="1270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25959619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4A909C3-B0C4-CDF7-149B-7A1F9B71E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ShadCN</a:t>
            </a:r>
            <a:r>
              <a:rPr lang="ru-RU" dirty="0"/>
              <a:t> </a:t>
            </a:r>
            <a:r>
              <a:rPr lang="en-US" dirty="0"/>
              <a:t>arch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7A83851-220E-5B10-3B74-173ADB8CEC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https://habr.com/ru/companies/timeweb/articles/781346/</a:t>
            </a:r>
            <a:endParaRPr lang="ru-RU" dirty="0"/>
          </a:p>
          <a:p>
            <a:endParaRPr lang="ru-RU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A9F75134-DB27-8D51-0B5B-1D09093D11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706" y="2311929"/>
            <a:ext cx="9751716" cy="4281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473557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45CB405-7321-3632-D061-07AD19D657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Figma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6F7859D-CF6D-F67D-7C33-EE5F10F5E7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https://ui.shadcn.com/docs/figma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contains 3 free and 3 paid</a:t>
            </a:r>
          </a:p>
          <a:p>
            <a:r>
              <a:rPr lang="en-US" dirty="0">
                <a:hlinkClick r:id="rId3"/>
              </a:rPr>
              <a:t>https://mui.com/material-ui/design-resources/material-ui-for-figma/</a:t>
            </a:r>
            <a:endParaRPr lang="en-US" dirty="0"/>
          </a:p>
          <a:p>
            <a:pPr lvl="1"/>
            <a:r>
              <a:rPr lang="en-US" dirty="0"/>
              <a:t>contains 1 free and 1 paid 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634623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97F613C-EDC4-4A4D-D89E-B4EEB36646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Install </a:t>
            </a:r>
            <a:r>
              <a:rPr lang="en-US" dirty="0" err="1"/>
              <a:t>ShadCN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6B34E41-CBF4-0C71-E588-47C790056C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b="0" i="0" dirty="0" err="1">
                <a:effectLst/>
                <a:latin typeface="plexMono"/>
              </a:rPr>
              <a:t>npm</a:t>
            </a:r>
            <a:r>
              <a:rPr lang="en-US" b="0" i="0" dirty="0">
                <a:effectLst/>
                <a:latin typeface="plexMono"/>
              </a:rPr>
              <a:t> install </a:t>
            </a:r>
            <a:r>
              <a:rPr lang="en-US" b="0" i="0" dirty="0" err="1">
                <a:effectLst/>
                <a:latin typeface="plexMono"/>
              </a:rPr>
              <a:t>tailwindcss</a:t>
            </a:r>
            <a:r>
              <a:rPr lang="en-US" b="0" i="0" dirty="0">
                <a:effectLst/>
                <a:latin typeface="plexMono"/>
              </a:rPr>
              <a:t> @tailwindcss/postcss </a:t>
            </a:r>
            <a:r>
              <a:rPr lang="en-US" b="0" i="0" dirty="0" err="1">
                <a:effectLst/>
                <a:latin typeface="plexMono"/>
              </a:rPr>
              <a:t>postcss</a:t>
            </a:r>
            <a:endParaRPr lang="en-US" b="0" i="0" dirty="0">
              <a:effectLst/>
              <a:latin typeface="plexMono"/>
            </a:endParaRPr>
          </a:p>
          <a:p>
            <a:pPr lvl="1"/>
            <a:r>
              <a:rPr lang="en-US" dirty="0"/>
              <a:t>https://tailwindcss.com/docs/installation/framework-guides/nextjs</a:t>
            </a:r>
          </a:p>
          <a:p>
            <a:r>
              <a:rPr lang="en-US" dirty="0" err="1"/>
              <a:t>npx</a:t>
            </a:r>
            <a:r>
              <a:rPr lang="en-US" dirty="0"/>
              <a:t> </a:t>
            </a:r>
            <a:r>
              <a:rPr lang="en-US" dirty="0" err="1"/>
              <a:t>shadcn@latest</a:t>
            </a:r>
            <a:r>
              <a:rPr lang="en-US" dirty="0"/>
              <a:t> </a:t>
            </a:r>
            <a:r>
              <a:rPr lang="en-US" dirty="0" err="1"/>
              <a:t>init</a:t>
            </a:r>
            <a:endParaRPr lang="en-US" dirty="0"/>
          </a:p>
          <a:p>
            <a:pPr lvl="1"/>
            <a:r>
              <a:rPr lang="en-US" dirty="0">
                <a:hlinkClick r:id="rId2"/>
              </a:rPr>
              <a:t>https://ui.shadcn.com/docs/installation/next</a:t>
            </a:r>
            <a:endParaRPr lang="en-US" dirty="0"/>
          </a:p>
          <a:p>
            <a:r>
              <a:rPr lang="en-US" dirty="0" err="1"/>
              <a:t>npm</a:t>
            </a:r>
            <a:r>
              <a:rPr lang="en-US" dirty="0"/>
              <a:t> install </a:t>
            </a:r>
            <a:r>
              <a:rPr lang="en-US" dirty="0" err="1"/>
              <a:t>tw</a:t>
            </a:r>
            <a:r>
              <a:rPr lang="en-US" dirty="0"/>
              <a:t>-animate-</a:t>
            </a:r>
            <a:r>
              <a:rPr lang="en-US" dirty="0" err="1"/>
              <a:t>css</a:t>
            </a:r>
            <a:endParaRPr lang="en-US" dirty="0"/>
          </a:p>
          <a:p>
            <a:pPr lvl="1"/>
            <a:r>
              <a:rPr lang="en-US" dirty="0"/>
              <a:t>to fix </a:t>
            </a:r>
            <a:r>
              <a:rPr lang="en-US" dirty="0" err="1"/>
              <a:t>CssSyntaxError</a:t>
            </a:r>
            <a:r>
              <a:rPr lang="en-US" dirty="0"/>
              <a:t>: </a:t>
            </a:r>
            <a:r>
              <a:rPr lang="en-US" dirty="0" err="1"/>
              <a:t>tailwindcss</a:t>
            </a:r>
            <a:r>
              <a:rPr lang="en-US" dirty="0"/>
              <a:t>: D:\work\code\customize </a:t>
            </a:r>
            <a:r>
              <a:rPr lang="en-US" dirty="0" err="1"/>
              <a:t>ui</a:t>
            </a:r>
            <a:r>
              <a:rPr lang="en-US" dirty="0"/>
              <a:t>\</a:t>
            </a:r>
            <a:r>
              <a:rPr lang="en-US" dirty="0" err="1"/>
              <a:t>nextjs-shadcn</a:t>
            </a:r>
            <a:r>
              <a:rPr lang="en-US" dirty="0"/>
              <a:t>\</a:t>
            </a:r>
            <a:r>
              <a:rPr lang="en-US" dirty="0" err="1"/>
              <a:t>src</a:t>
            </a:r>
            <a:r>
              <a:rPr lang="en-US" dirty="0"/>
              <a:t>\app\globals.css:1:1: Can't resolve '</a:t>
            </a:r>
            <a:r>
              <a:rPr lang="en-US" dirty="0" err="1"/>
              <a:t>tw</a:t>
            </a:r>
            <a:r>
              <a:rPr lang="en-US" dirty="0"/>
              <a:t>-animate-</a:t>
            </a:r>
            <a:r>
              <a:rPr lang="en-US" dirty="0" err="1"/>
              <a:t>css</a:t>
            </a:r>
            <a:r>
              <a:rPr lang="en-US" dirty="0"/>
              <a:t>’</a:t>
            </a:r>
          </a:p>
          <a:p>
            <a:r>
              <a:rPr lang="en-US" dirty="0" err="1"/>
              <a:t>npx</a:t>
            </a:r>
            <a:r>
              <a:rPr lang="en-US" dirty="0"/>
              <a:t> </a:t>
            </a:r>
            <a:r>
              <a:rPr lang="en-US" dirty="0" err="1"/>
              <a:t>shadcn@latest</a:t>
            </a:r>
            <a:r>
              <a:rPr lang="en-US" dirty="0"/>
              <a:t> add button</a:t>
            </a:r>
          </a:p>
          <a:p>
            <a:pPr lvl="1"/>
            <a:r>
              <a:rPr lang="en-US" dirty="0" err="1"/>
              <a:t>button.tsx</a:t>
            </a:r>
            <a:r>
              <a:rPr lang="en-US" dirty="0"/>
              <a:t> </a:t>
            </a:r>
            <a:r>
              <a:rPr lang="ru-RU" dirty="0"/>
              <a:t>создается в </a:t>
            </a:r>
            <a:r>
              <a:rPr lang="en-US" dirty="0"/>
              <a:t>components</a:t>
            </a:r>
          </a:p>
          <a:p>
            <a:pPr lvl="1"/>
            <a:r>
              <a:rPr lang="ru-RU" b="1" dirty="0" err="1">
                <a:solidFill>
                  <a:srgbClr val="FF0000"/>
                </a:solidFill>
              </a:rPr>
              <a:t>Апгрейдабилити</a:t>
            </a:r>
            <a:r>
              <a:rPr lang="ru-RU" dirty="0"/>
              <a:t>???</a:t>
            </a:r>
          </a:p>
          <a:p>
            <a:pPr lvl="2"/>
            <a:r>
              <a:rPr lang="en-US" dirty="0" err="1"/>
              <a:t>npx</a:t>
            </a:r>
            <a:r>
              <a:rPr lang="en-US" dirty="0"/>
              <a:t> </a:t>
            </a:r>
            <a:r>
              <a:rPr lang="en-US" dirty="0" err="1"/>
              <a:t>shadcn@latest</a:t>
            </a:r>
            <a:r>
              <a:rPr lang="en-US" dirty="0"/>
              <a:t> –version</a:t>
            </a:r>
            <a:r>
              <a:rPr lang="ru-RU" dirty="0"/>
              <a:t> + </a:t>
            </a:r>
            <a:r>
              <a:rPr lang="en-US" dirty="0" err="1"/>
              <a:t>npx</a:t>
            </a:r>
            <a:r>
              <a:rPr lang="en-US" dirty="0"/>
              <a:t> </a:t>
            </a:r>
            <a:r>
              <a:rPr lang="en-US" dirty="0" err="1"/>
              <a:t>shadcn@latest</a:t>
            </a:r>
            <a:r>
              <a:rPr lang="en-US" dirty="0"/>
              <a:t> add &lt;component-name&gt;</a:t>
            </a:r>
            <a:r>
              <a:rPr lang="ru-RU" dirty="0"/>
              <a:t> + примерить </a:t>
            </a:r>
            <a:r>
              <a:rPr lang="ru-RU" dirty="0" err="1"/>
              <a:t>дифф</a:t>
            </a:r>
            <a:r>
              <a:rPr lang="ru-RU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111747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6F513DC-213C-635F-BB4F-BCEA49A885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Install MUI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41D021E-911B-F8B9-064B-EC89E18376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120467" cy="4351338"/>
          </a:xfrm>
        </p:spPr>
        <p:txBody>
          <a:bodyPr/>
          <a:lstStyle/>
          <a:p>
            <a:r>
              <a:rPr lang="en-US" dirty="0">
                <a:hlinkClick r:id="rId2"/>
              </a:rPr>
              <a:t>https://mui.com/material-ui/integrations/nextjs/</a:t>
            </a:r>
            <a:endParaRPr lang="en-US" dirty="0"/>
          </a:p>
          <a:p>
            <a:pPr lvl="1"/>
            <a:r>
              <a:rPr lang="ru-RU" dirty="0"/>
              <a:t>Также довольно много шагов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58E4DBDC-A3AA-E9A4-C34C-724BE1DD36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76460" y="0"/>
            <a:ext cx="4015540" cy="6858000"/>
          </a:xfrm>
          <a:prstGeom prst="rect">
            <a:avLst/>
          </a:prstGeom>
          <a:ln w="1270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31543843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44B1C8B-7156-C749-1DF7-75759B0D54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Макет</a:t>
            </a:r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F5CCCED0-B5B8-CECD-4136-E75A40AC4C1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943314" y="2091265"/>
            <a:ext cx="2305372" cy="3820058"/>
          </a:xfrm>
        </p:spPr>
      </p:pic>
    </p:spTree>
    <p:extLst>
      <p:ext uri="{BB962C8B-B14F-4D97-AF65-F5344CB8AC3E}">
        <p14:creationId xmlns:p14="http://schemas.microsoft.com/office/powerpoint/2010/main" val="20914128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51D2921-0C16-7C04-A14A-E4B1846F9A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MUI customize        VS       </a:t>
            </a:r>
            <a:r>
              <a:rPr lang="en-US" dirty="0" err="1"/>
              <a:t>ShadCN</a:t>
            </a:r>
            <a:r>
              <a:rPr lang="en-US" dirty="0"/>
              <a:t> customize</a:t>
            </a:r>
            <a:endParaRPr lang="ru-RU" dirty="0"/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219718A3-1812-16DB-DAD7-53F3F003E81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39242" y="1690688"/>
            <a:ext cx="3953558" cy="4932814"/>
          </a:xfr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D1BD4154-125F-0D91-5CC2-5CDD3F74BA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4316" y="1690688"/>
            <a:ext cx="4217775" cy="4864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22313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843DEBA-A6AC-17FC-76F3-0175666770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MUI vs </a:t>
            </a:r>
            <a:r>
              <a:rPr lang="en-US" dirty="0" err="1"/>
              <a:t>ShadCN</a:t>
            </a:r>
            <a:r>
              <a:rPr lang="en-US" dirty="0"/>
              <a:t> product-card-component</a:t>
            </a:r>
            <a:endParaRPr lang="ru-RU" dirty="0"/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1D88208E-6021-E067-2A54-5306AD8A4B7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4321" y="1270000"/>
            <a:ext cx="12017679" cy="5491921"/>
          </a:xfrm>
        </p:spPr>
      </p:pic>
    </p:spTree>
    <p:extLst>
      <p:ext uri="{BB962C8B-B14F-4D97-AF65-F5344CB8AC3E}">
        <p14:creationId xmlns:p14="http://schemas.microsoft.com/office/powerpoint/2010/main" val="16516229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418896F-DC17-4F5A-75A0-D9E8598640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AdminUI</a:t>
            </a:r>
            <a:r>
              <a:rPr lang="en-US" dirty="0"/>
              <a:t> via </a:t>
            </a:r>
            <a:r>
              <a:rPr lang="en-US" dirty="0" err="1"/>
              <a:t>zustand</a:t>
            </a:r>
            <a:endParaRPr lang="ru-RU" dirty="0"/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B0E59AC1-00BA-56D1-3ADA-4AD271C87B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A6C8CB66-E97B-E30F-7D50-216C5CA5DE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82252"/>
            <a:ext cx="12192000" cy="55757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07507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843DEBA-A6AC-17FC-76F3-0175666770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MUI vs </a:t>
            </a:r>
            <a:r>
              <a:rPr lang="en-US" dirty="0" err="1"/>
              <a:t>ShadCN</a:t>
            </a:r>
            <a:r>
              <a:rPr lang="en-US" dirty="0"/>
              <a:t> customization mappings</a:t>
            </a:r>
            <a:endParaRPr lang="ru-RU" dirty="0"/>
          </a:p>
        </p:txBody>
      </p:sp>
      <p:pic>
        <p:nvPicPr>
          <p:cNvPr id="7" name="Объект 6">
            <a:extLst>
              <a:ext uri="{FF2B5EF4-FFF2-40B4-BE49-F238E27FC236}">
                <a16:creationId xmlns:a16="http://schemas.microsoft.com/office/drawing/2014/main" id="{BB3F6A49-5B27-B014-CC9B-C4985B93090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1381648"/>
            <a:ext cx="12191999" cy="5476352"/>
          </a:xfrm>
        </p:spPr>
      </p:pic>
    </p:spTree>
    <p:extLst>
      <p:ext uri="{BB962C8B-B14F-4D97-AF65-F5344CB8AC3E}">
        <p14:creationId xmlns:p14="http://schemas.microsoft.com/office/powerpoint/2010/main" val="3683256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E71E9D8-7A09-06AA-76E1-8FB1DD6425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Выводы </a:t>
            </a:r>
            <a:r>
              <a:rPr lang="en-US" dirty="0"/>
              <a:t>MUI vs </a:t>
            </a:r>
            <a:r>
              <a:rPr lang="en-US" dirty="0" err="1"/>
              <a:t>ShadCN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63F2E09-8388-2B76-632A-CD19EEF6E60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Есть </a:t>
            </a:r>
            <a:r>
              <a:rPr lang="ru-RU" dirty="0" err="1"/>
              <a:t>фигма</a:t>
            </a:r>
            <a:endParaRPr lang="ru-RU" dirty="0"/>
          </a:p>
          <a:p>
            <a:r>
              <a:rPr lang="ru-RU" dirty="0">
                <a:solidFill>
                  <a:srgbClr val="92D050"/>
                </a:solidFill>
              </a:rPr>
              <a:t>МУИ чуть быстрее стоить </a:t>
            </a:r>
            <a:r>
              <a:rPr lang="en-US" dirty="0">
                <a:solidFill>
                  <a:srgbClr val="92D050"/>
                </a:solidFill>
              </a:rPr>
              <a:t>UI</a:t>
            </a:r>
          </a:p>
          <a:p>
            <a:r>
              <a:rPr lang="ru-RU" dirty="0">
                <a:solidFill>
                  <a:srgbClr val="92D050"/>
                </a:solidFill>
              </a:rPr>
              <a:t>Чуть меньше кода</a:t>
            </a:r>
          </a:p>
          <a:p>
            <a:r>
              <a:rPr lang="ru-RU" dirty="0">
                <a:solidFill>
                  <a:srgbClr val="92D050"/>
                </a:solidFill>
              </a:rPr>
              <a:t>Больше использований</a:t>
            </a:r>
            <a:r>
              <a:rPr lang="en-US" dirty="0">
                <a:solidFill>
                  <a:srgbClr val="92D050"/>
                </a:solidFill>
              </a:rPr>
              <a:t>?</a:t>
            </a:r>
            <a:endParaRPr lang="ru-RU" dirty="0">
              <a:solidFill>
                <a:srgbClr val="92D050"/>
              </a:solidFill>
            </a:endParaRPr>
          </a:p>
          <a:p>
            <a:r>
              <a:rPr lang="ru-RU" dirty="0">
                <a:solidFill>
                  <a:srgbClr val="92D050"/>
                </a:solidFill>
              </a:rPr>
              <a:t>Меньше вариативности, легче для понимания</a:t>
            </a:r>
          </a:p>
          <a:p>
            <a:r>
              <a:rPr lang="ru-RU" dirty="0">
                <a:solidFill>
                  <a:srgbClr val="92D050"/>
                </a:solidFill>
              </a:rPr>
              <a:t>Абстрагирование от </a:t>
            </a:r>
            <a:r>
              <a:rPr lang="en-US" dirty="0" err="1">
                <a:solidFill>
                  <a:srgbClr val="92D050"/>
                </a:solidFill>
              </a:rPr>
              <a:t>css</a:t>
            </a:r>
            <a:endParaRPr lang="en-US" dirty="0">
              <a:solidFill>
                <a:srgbClr val="92D050"/>
              </a:solidFill>
            </a:endParaRPr>
          </a:p>
          <a:p>
            <a:r>
              <a:rPr lang="ru-RU" dirty="0">
                <a:solidFill>
                  <a:srgbClr val="FF0000"/>
                </a:solidFill>
              </a:rPr>
              <a:t>Необходимость использовать темы</a:t>
            </a:r>
          </a:p>
          <a:p>
            <a:r>
              <a:rPr lang="ru-RU" dirty="0" err="1">
                <a:solidFill>
                  <a:srgbClr val="FF0000"/>
                </a:solidFill>
              </a:rPr>
              <a:t>Перемапинг</a:t>
            </a:r>
            <a:r>
              <a:rPr lang="ru-RU" dirty="0">
                <a:solidFill>
                  <a:srgbClr val="FF0000"/>
                </a:solidFill>
              </a:rPr>
              <a:t> довольно сложный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9DCFB112-0A53-FB61-1814-EF848584571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Есть </a:t>
            </a:r>
            <a:r>
              <a:rPr lang="ru-RU" dirty="0" err="1"/>
              <a:t>фигма</a:t>
            </a:r>
            <a:r>
              <a:rPr lang="ru-RU" dirty="0"/>
              <a:t> несколько</a:t>
            </a:r>
          </a:p>
          <a:p>
            <a:r>
              <a:rPr lang="ru-RU" dirty="0">
                <a:solidFill>
                  <a:srgbClr val="92D050"/>
                </a:solidFill>
              </a:rPr>
              <a:t>Кастомизация ближе к смыслу</a:t>
            </a:r>
          </a:p>
          <a:p>
            <a:r>
              <a:rPr lang="ru-RU" dirty="0" err="1">
                <a:solidFill>
                  <a:srgbClr val="92D050"/>
                </a:solidFill>
              </a:rPr>
              <a:t>Хайпиться</a:t>
            </a:r>
            <a:r>
              <a:rPr lang="ru-RU" dirty="0">
                <a:solidFill>
                  <a:srgbClr val="92D050"/>
                </a:solidFill>
              </a:rPr>
              <a:t> </a:t>
            </a:r>
            <a:r>
              <a:rPr lang="ru-RU" dirty="0" err="1">
                <a:solidFill>
                  <a:srgbClr val="92D050"/>
                </a:solidFill>
              </a:rPr>
              <a:t>некстом</a:t>
            </a:r>
            <a:r>
              <a:rPr lang="ru-RU" dirty="0">
                <a:solidFill>
                  <a:srgbClr val="92D050"/>
                </a:solidFill>
              </a:rPr>
              <a:t> и вроде как стал стандартом</a:t>
            </a:r>
          </a:p>
          <a:p>
            <a:r>
              <a:rPr lang="ru-RU" dirty="0">
                <a:solidFill>
                  <a:srgbClr val="92D050"/>
                </a:solidFill>
              </a:rPr>
              <a:t>Легче </a:t>
            </a:r>
            <a:r>
              <a:rPr lang="ru-RU" dirty="0" err="1">
                <a:solidFill>
                  <a:srgbClr val="92D050"/>
                </a:solidFill>
              </a:rPr>
              <a:t>катомизировать</a:t>
            </a:r>
            <a:r>
              <a:rPr lang="ru-RU" dirty="0">
                <a:solidFill>
                  <a:srgbClr val="92D050"/>
                </a:solidFill>
              </a:rPr>
              <a:t>!!!</a:t>
            </a:r>
          </a:p>
          <a:p>
            <a:endParaRPr lang="ru-RU" dirty="0"/>
          </a:p>
          <a:p>
            <a:endParaRPr lang="ru-RU" dirty="0"/>
          </a:p>
          <a:p>
            <a:r>
              <a:rPr lang="ru-RU" dirty="0">
                <a:solidFill>
                  <a:srgbClr val="FF0000"/>
                </a:solidFill>
              </a:rPr>
              <a:t>Необходимо знание </a:t>
            </a:r>
            <a:r>
              <a:rPr lang="en-US" dirty="0">
                <a:solidFill>
                  <a:srgbClr val="FF0000"/>
                </a:solidFill>
              </a:rPr>
              <a:t>Tailwind</a:t>
            </a:r>
            <a:endParaRPr lang="ru-RU" dirty="0">
              <a:solidFill>
                <a:srgbClr val="FF0000"/>
              </a:solidFill>
            </a:endParaRPr>
          </a:p>
          <a:p>
            <a:r>
              <a:rPr lang="ru-RU" dirty="0" err="1">
                <a:solidFill>
                  <a:srgbClr val="FF0000"/>
                </a:solidFill>
              </a:rPr>
              <a:t>Апгрейдабили</a:t>
            </a:r>
            <a:endParaRPr lang="ru-RU" dirty="0">
              <a:solidFill>
                <a:srgbClr val="FF0000"/>
              </a:solidFill>
            </a:endParaRPr>
          </a:p>
          <a:p>
            <a:r>
              <a:rPr lang="ru-RU" dirty="0">
                <a:solidFill>
                  <a:srgbClr val="FF0000"/>
                </a:solidFill>
              </a:rPr>
              <a:t>Необходимость оборачивать компоненты</a:t>
            </a:r>
          </a:p>
        </p:txBody>
      </p:sp>
    </p:spTree>
    <p:extLst>
      <p:ext uri="{BB962C8B-B14F-4D97-AF65-F5344CB8AC3E}">
        <p14:creationId xmlns:p14="http://schemas.microsoft.com/office/powerpoint/2010/main" val="3929299678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688</TotalTime>
  <Words>416</Words>
  <Application>Microsoft Office PowerPoint</Application>
  <PresentationFormat>Широкоэкранный</PresentationFormat>
  <Paragraphs>58</Paragraphs>
  <Slides>16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16</vt:i4>
      </vt:variant>
    </vt:vector>
  </HeadingPairs>
  <TitlesOfParts>
    <vt:vector size="22" baseType="lpstr">
      <vt:lpstr>Arial</vt:lpstr>
      <vt:lpstr>Calibri</vt:lpstr>
      <vt:lpstr>Calibri Light</vt:lpstr>
      <vt:lpstr>Google Sans</vt:lpstr>
      <vt:lpstr>plexMono</vt:lpstr>
      <vt:lpstr>Тема Office</vt:lpstr>
      <vt:lpstr>ShadCn VS MUI</vt:lpstr>
      <vt:lpstr>Презентация PowerPoint</vt:lpstr>
      <vt:lpstr>Тренды</vt:lpstr>
      <vt:lpstr>NPM</vt:lpstr>
      <vt:lpstr>NPM-2</vt:lpstr>
      <vt:lpstr>Github</vt:lpstr>
      <vt:lpstr>ShadCN arch</vt:lpstr>
      <vt:lpstr>Figma</vt:lpstr>
      <vt:lpstr>Install ShadCN</vt:lpstr>
      <vt:lpstr>Install MUI</vt:lpstr>
      <vt:lpstr>Макет</vt:lpstr>
      <vt:lpstr>MUI customize        VS       ShadCN customize</vt:lpstr>
      <vt:lpstr>MUI vs ShadCN product-card-component</vt:lpstr>
      <vt:lpstr>AdminUI via zustand</vt:lpstr>
      <vt:lpstr>MUI vs ShadCN customization mappings</vt:lpstr>
      <vt:lpstr>Выводы MUI vs ShadCN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ShadCn VS MUI</dc:title>
  <dc:creator>Анатолий Н</dc:creator>
  <cp:lastModifiedBy>Анатолий Н</cp:lastModifiedBy>
  <cp:revision>23</cp:revision>
  <dcterms:created xsi:type="dcterms:W3CDTF">2026-01-28T13:39:43Z</dcterms:created>
  <dcterms:modified xsi:type="dcterms:W3CDTF">2026-01-29T15:17:35Z</dcterms:modified>
</cp:coreProperties>
</file>